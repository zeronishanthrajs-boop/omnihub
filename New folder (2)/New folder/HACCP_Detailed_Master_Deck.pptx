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031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0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6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7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2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8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2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10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3853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2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44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2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61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7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8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Hazard Analysis and Critical Control Points (HACCP)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Food Safety Management</a:t>
            </a:r>
          </a:p>
          <a:p>
            <a:r>
              <a:t>Automated Generation via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HACCP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 scientific and systematic food safety management system designed to identify, evaluate, and control hazards.</a:t>
            </a:r>
          </a:p>
          <a:p>
            <a:pPr>
              <a:defRPr sz="1800"/>
            </a:pPr>
            <a:r>
              <a:t>• Widely used in food industries, hotels, catering units, dairy plants, and meat processing.</a:t>
            </a:r>
          </a:p>
          <a:p>
            <a:pPr>
              <a:defRPr sz="1800"/>
            </a:pPr>
            <a:r>
              <a:t>• Focuses heavily on prevention rather than relying only on final product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Objectives of HACCP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To ensure overall food safety and prevent food contamination.</a:t>
            </a:r>
          </a:p>
          <a:p>
            <a:pPr>
              <a:defRPr sz="1800"/>
            </a:pPr>
            <a:r>
              <a:t>• To drastically reduce foodborne illnesses.</a:t>
            </a:r>
          </a:p>
          <a:p>
            <a:pPr>
              <a:defRPr sz="1800"/>
            </a:pPr>
            <a:r>
              <a:t>• To maintain strictly hygienic food production environments.</a:t>
            </a:r>
          </a:p>
          <a:p>
            <a:pPr>
              <a:defRPr sz="1800"/>
            </a:pPr>
            <a:r>
              <a:t>• To improve and maintain consumer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Biological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Definition: Caused by microorganisms such as bacteria, viruses, molds, and parasites.</a:t>
            </a:r>
          </a:p>
          <a:p>
            <a:pPr>
              <a:defRPr sz="1800"/>
            </a:pPr>
            <a:r>
              <a:t>• Specific Examples: Salmonella, E. coli, and Listeria.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Chemical &amp; Physical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Chemical: Caused by harmful chemicals entering food. Examples include pesticides, detergents, and food additives.</a:t>
            </a:r>
          </a:p>
          <a:p>
            <a:pPr>
              <a:defRPr sz="1800"/>
            </a:pPr>
            <a:r>
              <a:t>• Physical: Foreign materials present in food. Examples include glass pieces, metal fragments, stones, and hair.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Principle 1: Hazard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Conduct Comprehensive Hazard Analysis.</a:t>
            </a:r>
          </a:p>
          <a:p>
            <a:pPr>
              <a:defRPr sz="1800"/>
            </a:pPr>
            <a:r>
              <a:t>• Identify all possible biological, chemical, and physical hazards during food processing and accurately assess their risks.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Principle 2: Critical Control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Determine Critical Control Points (CCPs).</a:t>
            </a:r>
          </a:p>
          <a:p>
            <a:pPr>
              <a:defRPr sz="1800"/>
            </a:pPr>
            <a:r>
              <a:t>• Definition: Specific stages where hazards can be controlled or eliminated entirely.</a:t>
            </a:r>
          </a:p>
          <a:p>
            <a:pPr>
              <a:defRPr sz="1800"/>
            </a:pPr>
            <a:r>
              <a:t>• Specific Examples: Cooking, chilling, and pasteurization.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Principle 3: Critical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Establish Critical Limits to set acceptable boundaries for each CCP.</a:t>
            </a:r>
          </a:p>
          <a:p>
            <a:pPr>
              <a:defRPr sz="1800"/>
            </a:pPr>
            <a:r>
              <a:t>• Metric 1: Cooking temperature must reach 75°C.</a:t>
            </a:r>
          </a:p>
          <a:p>
            <a:pPr>
              <a:defRPr sz="1800"/>
            </a:pPr>
            <a:r>
              <a:t>• Metric 2: Refrigeration temperature must remain below 5°C.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Principle 4: Monitoring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Establish Strict Monitoring Procedures.</a:t>
            </a:r>
          </a:p>
          <a:p>
            <a:pPr>
              <a:defRPr sz="1800"/>
            </a:pPr>
            <a:r>
              <a:t>• Requires regular observation and measurement of CCPs to ensure control is maintained.</a:t>
            </a:r>
          </a:p>
          <a:p>
            <a:pPr>
              <a:defRPr sz="1800"/>
            </a:pPr>
            <a:r>
              <a:t>• Specific Examples: Continuous temperature checks and routine pH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Principle 5: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Establish Corrective Actions.</a:t>
            </a:r>
          </a:p>
          <a:p>
            <a:pPr>
              <a:defRPr sz="1800"/>
            </a:pPr>
            <a:r>
              <a:t>• Defines the exact operational steps taken when critical limits are not met.</a:t>
            </a:r>
          </a:p>
          <a:p>
            <a:pPr>
              <a:defRPr sz="1800"/>
            </a:pPr>
            <a:r>
              <a:t>• Specific Example: Re-cooking the food if the initial temperature is found insufficient.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Principle 6: Verification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Establish Verification Procedures.</a:t>
            </a:r>
          </a:p>
          <a:p>
            <a:pPr>
              <a:defRPr sz="1800"/>
            </a:pPr>
            <a:r>
              <a:t>• Methods utilized to confirm that the entire HACCP system is functioning effectively.</a:t>
            </a:r>
          </a:p>
          <a:p>
            <a:pPr>
              <a:defRPr sz="1800"/>
            </a:pPr>
            <a:r>
              <a:t>• Specific Examples: Facility audits, laboratory testing, and equipment calibration.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Principle 7: Record Keeping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Establish Record Keeping and Documentation.</a:t>
            </a:r>
          </a:p>
          <a:p>
            <a:pPr>
              <a:defRPr sz="1800"/>
            </a:pPr>
            <a:r>
              <a:t>• Maintain logs related to identified hazards, monitoring data, and corrective actions.</a:t>
            </a:r>
          </a:p>
          <a:p>
            <a:pPr>
              <a:defRPr sz="1800"/>
            </a:pPr>
            <a:r>
              <a:t>• Store verification records to ensure systematic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Implementation Steps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1. Formation of the official HACCP team.</a:t>
            </a:r>
          </a:p>
          <a:p>
            <a:pPr>
              <a:defRPr sz="1800"/>
            </a:pPr>
            <a:r>
              <a:t>• 2. Detailed description of the food product.</a:t>
            </a:r>
          </a:p>
          <a:p>
            <a:pPr>
              <a:defRPr sz="1800"/>
            </a:pPr>
            <a:r>
              <a:t>• 3. Identification of the product's intended use.</a:t>
            </a:r>
          </a:p>
          <a:p>
            <a:pPr>
              <a:defRPr sz="1800"/>
            </a:pPr>
            <a:r>
              <a:t>• 4. Preparation of a process flow diagram.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Implementation Steps (Phase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5. On-site verification of the flow diagram.</a:t>
            </a:r>
          </a:p>
          <a:p>
            <a:pPr>
              <a:defRPr sz="1800"/>
            </a:pPr>
            <a:r>
              <a:t>• 6. Execution of the hazard analysis.</a:t>
            </a:r>
          </a:p>
          <a:p>
            <a:pPr>
              <a:defRPr sz="1800"/>
            </a:pPr>
            <a:r>
              <a:t>• 7. Identification of all CCPs.</a:t>
            </a:r>
          </a:p>
          <a:p>
            <a:pPr>
              <a:defRPr sz="1800"/>
            </a:pPr>
            <a:r>
              <a:t>• 8. Establishment of specific control measures.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Advantages: Prevents contamination, improves safety, reduces product wastage, enhances trust, meets international standards for export, and reduces food poisoning.</a:t>
            </a:r>
          </a:p>
          <a:p>
            <a:pPr>
              <a:defRPr sz="1800"/>
            </a:pPr>
            <a:r>
              <a:t>• Limitations: Requires highly trained personnel, high implementation costs, demands continuous monitoring, and involves a time-consuming documentation process.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Applications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Applications: Food manufacturing, dairy/meat industries, restaurants, catering, seafood, and beverage processing units.</a:t>
            </a:r>
          </a:p>
          <a:p>
            <a:pPr>
              <a:defRPr sz="1800"/>
            </a:pPr>
            <a:r>
              <a:t>• Conclusion: By identifying hazards and controlling them at critical points, HACCP helps protect consumer health and improve food quality.</a:t>
            </a:r>
          </a:p>
          <a:p>
            <a:pPr>
              <a:defRPr sz="1800"/>
            </a:pPr>
            <a:r>
              <a:t>• It plays a vital, non-negotiable role in modern food industries and public health protection.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</TotalTime>
  <Words>686</Words>
  <Application>Microsoft Office PowerPoint</Application>
  <PresentationFormat>On-screen Show (4:3)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Impact</vt:lpstr>
      <vt:lpstr>Main Event</vt:lpstr>
      <vt:lpstr>Hazard Analysis and Critical Control Points (HACCP)</vt:lpstr>
      <vt:lpstr>1. Introduction to HACCP</vt:lpstr>
      <vt:lpstr>2. Objectives of HACCP</vt:lpstr>
      <vt:lpstr>3. Biological Hazards</vt:lpstr>
      <vt:lpstr>4. Chemical &amp; Physical Hazards</vt:lpstr>
      <vt:lpstr>5. Principle 1: Hazard Analysis</vt:lpstr>
      <vt:lpstr>6. Principle 2: Critical Control Points</vt:lpstr>
      <vt:lpstr>7. Principle 3: Critical Limits</vt:lpstr>
      <vt:lpstr>8. Principle 4: Monitoring Procedures</vt:lpstr>
      <vt:lpstr>9. Principle 5: Corrective Actions</vt:lpstr>
      <vt:lpstr>10. Principle 6: Verification Procedures</vt:lpstr>
      <vt:lpstr>11. Principle 7: Record Keeping</vt:lpstr>
      <vt:lpstr>12. Implementation Steps (Phase 1)</vt:lpstr>
      <vt:lpstr>13. Implementation Steps (Phase 2)</vt:lpstr>
      <vt:lpstr>14. Advantages &amp; Limitations</vt:lpstr>
      <vt:lpstr>15. Applications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NISHANTH RAJ</cp:lastModifiedBy>
  <cp:revision>2</cp:revision>
  <dcterms:created xsi:type="dcterms:W3CDTF">2013-01-27T09:14:16Z</dcterms:created>
  <dcterms:modified xsi:type="dcterms:W3CDTF">2026-06-02T15:13:09Z</dcterms:modified>
  <cp:category/>
</cp:coreProperties>
</file>